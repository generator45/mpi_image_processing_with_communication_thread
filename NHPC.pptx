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5"/>
  </p:notesMasterIdLst>
  <p:handoutMasterIdLst>
    <p:handoutMasterId r:id="rId16"/>
  </p:handoutMasterIdLst>
  <p:sldIdLst>
    <p:sldId id="256" r:id="rId5"/>
    <p:sldId id="302" r:id="rId6"/>
    <p:sldId id="305" r:id="rId7"/>
    <p:sldId id="293" r:id="rId8"/>
    <p:sldId id="297" r:id="rId9"/>
    <p:sldId id="294" r:id="rId10"/>
    <p:sldId id="303" r:id="rId11"/>
    <p:sldId id="298" r:id="rId12"/>
    <p:sldId id="301" r:id="rId13"/>
    <p:sldId id="30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011F4B-654F-0A65-F2B4-4D8287065239}" v="168" dt="2025-11-16T18:20:48.125"/>
    <p1510:client id="{1E2E3B50-5AF3-CC82-3083-5B3139B249E5}" v="81" dt="2025-11-16T18:18:11.329"/>
    <p1510:client id="{25E5144B-5005-3C33-E245-44AC8189DFC2}" v="306" dt="2025-11-16T19:45:03.065"/>
    <p1510:client id="{4FF1DA7E-1B94-24F1-9017-ECC2C1F025B1}" v="30" dt="2025-11-17T04:47:59.767"/>
    <p1510:client id="{ABF6AA3D-FD08-3AF7-4662-F76FB90D3B61}" v="83" dt="2025-11-16T18:55:10.647"/>
    <p1510:client id="{AC360738-9838-7994-6DC0-12C52148DC19}" v="123" dt="2025-11-17T04:03:27.857"/>
    <p1510:client id="{CD5FDD27-6B92-62C3-4954-358C3C3D0AD2}" v="299" dt="2025-11-17T05:50:40.718"/>
    <p1510:client id="{D7B0F8C1-B5AE-FD77-42C0-0598A8B309E8}" v="1019" dt="2025-11-16T19:20:30.025"/>
    <p1510:client id="{E8B237CB-FF2F-B699-2B0F-D6470C734BD7}" v="303" dt="2025-11-16T19:20:01.405"/>
    <p1510:client id="{EA204900-155B-E95C-70BA-C1FDEBC32992}" v="118" dt="2025-11-16T19:53:13.675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3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B495A4C6-232E-4A1A-B575-7EF7F414F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>
            <a:lvl1pPr algn="l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B4C6F7E-40F0-42B1-AFE0-D3C95660E0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1599947"/>
            <a:ext cx="1706965" cy="4920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42EE46E3-709F-4AE9-AECE-FD647B6DCF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2378452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194FB4F-01AC-4A0E-BBE2-CF2B69F6F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22269" y="2169263"/>
            <a:ext cx="1706965" cy="10485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8E76F955-6B23-4972-8E86-603F19ECF6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1894" y="3528829"/>
            <a:ext cx="1393863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DA77547-4FF4-4B15-96F1-DC9B00175B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0449" y="3528829"/>
            <a:ext cx="1380681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6E6B6915-DFCC-44EB-9C61-6B7725D1B7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634331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718CC56-7B04-41D0-A320-CCCDC20D7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459860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778E1C09-B7DB-4CE7-A5B9-90BCF54448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321788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CFA026C-42CE-4C20-9DDE-417FDF6CB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468790"/>
            <a:ext cx="1706965" cy="4920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0AFAA95F-1461-496C-BAB4-D5D0594554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195673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D194B4E-75F4-47BE-B171-9C64697AB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7" idx="1"/>
          </p:cNvCxnSpPr>
          <p:nvPr userDrawn="1"/>
        </p:nvCxnSpPr>
        <p:spPr>
          <a:xfrm>
            <a:off x="2315757" y="3774842"/>
            <a:ext cx="7624692" cy="0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EFDA35F-76DF-4FDC-90C9-F9FEDF322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091972"/>
            <a:ext cx="4678" cy="3376818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Date Placeholder 2">
            <a:extLst>
              <a:ext uri="{FF2B5EF4-FFF2-40B4-BE49-F238E27FC236}">
                <a16:creationId xmlns:a16="http://schemas.microsoft.com/office/drawing/2014/main" id="{B8C04945-62C9-4964-8891-6D30EA90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32" name="Footer Placeholder 3">
            <a:extLst>
              <a:ext uri="{FF2B5EF4-FFF2-40B4-BE49-F238E27FC236}">
                <a16:creationId xmlns:a16="http://schemas.microsoft.com/office/drawing/2014/main" id="{51029B8B-F669-4889-98DD-9016611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33" name="Slide Number Placeholder 4">
            <a:extLst>
              <a:ext uri="{FF2B5EF4-FFF2-40B4-BE49-F238E27FC236}">
                <a16:creationId xmlns:a16="http://schemas.microsoft.com/office/drawing/2014/main" id="{7A0B84D6-438D-4B3B-B52C-6F5EC159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250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and tab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034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685" r:id="rId12"/>
    <p:sldLayoutId id="2147483700" r:id="rId13"/>
    <p:sldLayoutId id="2147483701" r:id="rId14"/>
    <p:sldLayoutId id="2147483692" r:id="rId15"/>
    <p:sldLayoutId id="2147483681" r:id="rId16"/>
    <p:sldLayoutId id="2147483674" r:id="rId17"/>
    <p:sldLayoutId id="2147483675" r:id="rId18"/>
    <p:sldLayoutId id="2147483696" r:id="rId19"/>
    <p:sldLayoutId id="2147483677" r:id="rId20"/>
    <p:sldLayoutId id="2147483678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rneish/parallel-PCA-openmp" TargetMode="External"/><Relationship Id="rId2" Type="http://schemas.openxmlformats.org/officeDocument/2006/relationships/hyperlink" Target="https://ieeexplore.ieee.org/document/5423039" TargetMode="Externa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rneish/parallel-PCA-openmp" TargetMode="External"/><Relationship Id="rId2" Type="http://schemas.openxmlformats.org/officeDocument/2006/relationships/hyperlink" Target="https://ieeexplore.ieee.org/document/5423039" TargetMode="Externa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0063" y="4126616"/>
            <a:ext cx="7236333" cy="1618786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PCA for Images Using Distributed Computing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371CC-92B5-42D2-834E-FA56153E4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CFEF18F-59D5-3D91-54EA-1A41B044CF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4A11D-567B-5823-ED23-F171051A9073}"/>
              </a:ext>
            </a:extLst>
          </p:cNvPr>
          <p:cNvSpPr txBox="1"/>
          <p:nvPr/>
        </p:nvSpPr>
        <p:spPr>
          <a:xfrm>
            <a:off x="1429820" y="172522"/>
            <a:ext cx="346752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cap="all">
                <a:solidFill>
                  <a:srgbClr val="404040"/>
                </a:solidFill>
                <a:latin typeface="Tenorite"/>
              </a:rPr>
              <a:t>MOTIVATION</a:t>
            </a:r>
            <a:endParaRPr lang="en-US" sz="3200" b="0" i="0">
              <a:latin typeface="Tenorit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7F559F-AF5A-FB1D-01E7-07D9180FB7F0}"/>
              </a:ext>
            </a:extLst>
          </p:cNvPr>
          <p:cNvSpPr txBox="1"/>
          <p:nvPr/>
        </p:nvSpPr>
        <p:spPr>
          <a:xfrm>
            <a:off x="1346123" y="937123"/>
            <a:ext cx="8772525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Motivation — Why PCA Is Expensive</a:t>
            </a:r>
            <a:endParaRPr lang="en-US"/>
          </a:p>
          <a:p>
            <a:pPr marL="228600" indent="-228600">
              <a:buFont typeface="Calibri"/>
              <a:buChar char="-"/>
            </a:pPr>
            <a:r>
              <a:rPr lang="en-US"/>
              <a:t>High time complexity in covariance computation: (O(N * d^2))</a:t>
            </a:r>
          </a:p>
          <a:p>
            <a:pPr marL="228600" indent="-228600">
              <a:buFont typeface="Calibri"/>
              <a:buChar char="-"/>
            </a:pPr>
            <a:r>
              <a:rPr lang="en-US"/>
              <a:t>Large (d) makes covariance matrix size (d^2) extremely large which requires memory + heavy computation for covariance calculation</a:t>
            </a:r>
          </a:p>
          <a:p>
            <a:pPr marL="228600" indent="-228600">
              <a:buFont typeface="Calibri"/>
              <a:buChar char="-"/>
            </a:pPr>
            <a:r>
              <a:rPr lang="en-US"/>
              <a:t>Single-node PCA becomes infeasible for large images due to compute + memory limits</a:t>
            </a:r>
          </a:p>
          <a:p>
            <a:r>
              <a:rPr lang="en-US" b="1"/>
              <a:t>Motivation — Why Our MPI Solution Is Feasible</a:t>
            </a:r>
          </a:p>
          <a:p>
            <a:pPr marL="228600" indent="-228600">
              <a:buFont typeface="Calibri"/>
              <a:buChar char="-"/>
            </a:pPr>
            <a:r>
              <a:rPr lang="en-US"/>
              <a:t>Perfect data parallelism: images can be partitioned across ranks </a:t>
            </a:r>
          </a:p>
          <a:p>
            <a:pPr marL="228600" indent="-228600">
              <a:buFont typeface="Calibri"/>
              <a:buChar char="-"/>
            </a:pPr>
            <a:r>
              <a:rPr lang="en-US"/>
              <a:t>Distributes the (N * dot d^2) covariance computation across MPI processes</a:t>
            </a:r>
          </a:p>
          <a:p>
            <a:pPr marL="228600" indent="-228600">
              <a:buFont typeface="Calibri"/>
              <a:buChar char="-"/>
            </a:pPr>
            <a:r>
              <a:rPr lang="en-US"/>
              <a:t>Each rank computes local covariance contribution independently</a:t>
            </a:r>
          </a:p>
          <a:p>
            <a:pPr marL="228600" indent="-228600">
              <a:buFont typeface="Calibri"/>
              <a:buChar char="-"/>
            </a:pPr>
            <a:r>
              <a:rPr lang="en-US"/>
              <a:t>Only </a:t>
            </a:r>
            <a:r>
              <a:rPr lang="en-US" b="1"/>
              <a:t>two collective communications</a:t>
            </a:r>
            <a:r>
              <a:rPr lang="en-US"/>
              <a:t>: mean reduction and covariance reduction</a:t>
            </a:r>
          </a:p>
          <a:p>
            <a:pPr marL="228600" indent="-228600">
              <a:buFont typeface="Calibri"/>
              <a:buChar char="-"/>
            </a:pPr>
            <a:r>
              <a:rPr lang="en-US"/>
              <a:t>Very low communication overhead relative to compute cost</a:t>
            </a:r>
          </a:p>
          <a:p>
            <a:pPr marL="228600" indent="-228600">
              <a:buFont typeface="Calibri"/>
              <a:buChar char="-"/>
            </a:pPr>
            <a:r>
              <a:rPr lang="en-US"/>
              <a:t>Achieves high compute-to-communication ratio → good scalability</a:t>
            </a:r>
          </a:p>
          <a:p>
            <a:r>
              <a:rPr lang="en-US" b="1"/>
              <a:t>Related work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ea typeface="+mn-lt"/>
                <a:cs typeface="+mn-lt"/>
              </a:rPr>
              <a:t>Parallelization of Principal Component Analysis (using Eigen Value Decomposition) on scalable multi-core architecture </a:t>
            </a:r>
            <a:r>
              <a:rPr lang="en-US">
                <a:ea typeface="+mn-lt"/>
                <a:cs typeface="+mn-lt"/>
                <a:hlinkClick r:id="rId2"/>
              </a:rPr>
              <a:t>https://ieeexplore.ieee.org/document/5423039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en-US">
                <a:ea typeface="+mn-lt"/>
                <a:cs typeface="+mn-lt"/>
                <a:hlinkClick r:id="rId3"/>
              </a:rPr>
              <a:t>https://github.com/arneish/parallel-PCA-openmp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Hybrid MPI/OpenMP implementation of PCA </a:t>
            </a:r>
            <a:r>
              <a:rPr lang="en-US">
                <a:ea typeface="+mn-lt"/>
                <a:cs typeface="+mn-lt"/>
              </a:rPr>
              <a:t>https://ieeexplore.ieee.org/document/8260048</a:t>
            </a:r>
          </a:p>
          <a:p>
            <a:pPr marL="285750" indent="-285750">
              <a:buFont typeface="Calibri"/>
              <a:buChar char="-"/>
            </a:pP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72664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49CD8-8DD2-FB37-2DA4-45FA21936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469B8E8-C411-5EBF-D91F-C6F094B43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DA7D36-0710-F13F-2BB3-62B19CE695D4}"/>
              </a:ext>
            </a:extLst>
          </p:cNvPr>
          <p:cNvSpPr txBox="1"/>
          <p:nvPr/>
        </p:nvSpPr>
        <p:spPr>
          <a:xfrm>
            <a:off x="1429820" y="760088"/>
            <a:ext cx="346752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cap="all">
                <a:solidFill>
                  <a:srgbClr val="404040"/>
                </a:solidFill>
                <a:latin typeface="Tenorite"/>
              </a:rPr>
              <a:t>MOTIVATION</a:t>
            </a:r>
            <a:endParaRPr lang="en-US" sz="3200" b="0" i="0">
              <a:latin typeface="Tenorit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595B59-39FE-F631-42D7-A78364245FC5}"/>
              </a:ext>
            </a:extLst>
          </p:cNvPr>
          <p:cNvSpPr txBox="1"/>
          <p:nvPr/>
        </p:nvSpPr>
        <p:spPr>
          <a:xfrm>
            <a:off x="1428750" y="1947003"/>
            <a:ext cx="8772525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/>
          </a:p>
          <a:p>
            <a:r>
              <a:rPr lang="en-US" sz="2400" b="1"/>
              <a:t>Related work</a:t>
            </a:r>
          </a:p>
          <a:p>
            <a:endParaRPr lang="en-US" sz="2400" b="1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en-US">
                <a:ea typeface="+mn-lt"/>
                <a:cs typeface="+mn-lt"/>
              </a:rPr>
              <a:t>Parallelization of Principal Component Analysis (using Eigen Value Decomposition) on scalable multi-core architecture </a:t>
            </a:r>
            <a:r>
              <a:rPr lang="en-US">
                <a:ea typeface="+mn-lt"/>
                <a:cs typeface="+mn-lt"/>
                <a:hlinkClick r:id="rId2"/>
              </a:rPr>
              <a:t>https://ieeexplore.ieee.org/document/5423039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en-US">
                <a:ea typeface="+mn-lt"/>
                <a:cs typeface="+mn-lt"/>
                <a:hlinkClick r:id="rId3"/>
              </a:rPr>
              <a:t>https://github.com/arneish/parallel-PCA-openmp</a:t>
            </a:r>
          </a:p>
          <a:p>
            <a:pPr marL="285750" indent="-285750">
              <a:buFont typeface="Calibri"/>
              <a:buChar char="-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en-US">
                <a:ea typeface="+mn-lt"/>
                <a:cs typeface="+mn-lt"/>
              </a:rPr>
              <a:t>Hybrid</a:t>
            </a:r>
            <a:r>
              <a:rPr lang="en-US"/>
              <a:t> MPI/OpenMP implementation of PCA </a:t>
            </a:r>
            <a:r>
              <a:rPr lang="en-US">
                <a:ea typeface="+mn-lt"/>
                <a:cs typeface="+mn-lt"/>
              </a:rPr>
              <a:t>https://ieeexplore.ieee.org/document/8260048</a:t>
            </a:r>
            <a:endParaRPr lang="en-US"/>
          </a:p>
          <a:p>
            <a:pPr marL="285750" indent="-285750">
              <a:buFont typeface="Calibri"/>
              <a:buChar char="-"/>
            </a:pP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32125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1188AF-1B8F-40DD-90B1-DC0F52BA4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393" y="622185"/>
            <a:ext cx="10515600" cy="673732"/>
          </a:xfrm>
        </p:spPr>
        <p:txBody>
          <a:bodyPr lIns="0">
            <a:normAutofit fontScale="90000"/>
          </a:bodyPr>
          <a:lstStyle/>
          <a:p>
            <a:r>
              <a:rPr lang="en-US" sz="3200"/>
              <a:t>PCA –Principal component analysis </a:t>
            </a:r>
            <a:br>
              <a:rPr lang="en-US" sz="3200"/>
            </a:br>
            <a:endParaRPr lang="en-US" sz="3200"/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5425916A-A2C0-45C3-9A48-E48DEB97F6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7729900" cy="487609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>
                <a:ea typeface="+mn-lt"/>
                <a:cs typeface="+mn-lt"/>
              </a:rPr>
              <a:t>PCA takes high-dimensional data, like images, and tries to find patterns that capture the most important information while reducing the dimensionality.</a:t>
            </a:r>
            <a:endParaRPr lang="en-US"/>
          </a:p>
          <a:p>
            <a:r>
              <a:rPr lang="en-US" sz="1400">
                <a:ea typeface="+mn-lt"/>
                <a:cs typeface="+mn-lt"/>
              </a:rPr>
              <a:t>The steps are:</a:t>
            </a:r>
            <a:endParaRPr lang="en-US"/>
          </a:p>
          <a:p>
            <a:pPr>
              <a:buChar char="•"/>
            </a:pPr>
            <a:r>
              <a:rPr lang="en-US" sz="1600">
                <a:ea typeface="+mn-lt"/>
                <a:cs typeface="+mn-lt"/>
              </a:rPr>
              <a:t>    Flatten the images into vectors</a:t>
            </a:r>
            <a:endParaRPr lang="en-US"/>
          </a:p>
          <a:p>
            <a:pPr>
              <a:buChar char="•"/>
            </a:pPr>
            <a:r>
              <a:rPr lang="en-US" sz="1600">
                <a:ea typeface="+mn-lt"/>
                <a:cs typeface="+mn-lt"/>
              </a:rPr>
              <a:t>    Compute the mean vector</a:t>
            </a:r>
            <a:endParaRPr lang="en-US"/>
          </a:p>
          <a:p>
            <a:pPr>
              <a:buChar char="•"/>
            </a:pPr>
            <a:r>
              <a:rPr lang="en-US" sz="1600">
                <a:ea typeface="+mn-lt"/>
                <a:cs typeface="+mn-lt"/>
              </a:rPr>
              <a:t>    Center the data by subtracting the mean</a:t>
            </a:r>
            <a:endParaRPr lang="en-US"/>
          </a:p>
          <a:p>
            <a:pPr>
              <a:buChar char="•"/>
            </a:pPr>
            <a:r>
              <a:rPr lang="en-US" sz="1600">
                <a:ea typeface="+mn-lt"/>
                <a:cs typeface="+mn-lt"/>
              </a:rPr>
              <a:t>    Compute the covariance matrix, which shows how pixels vary together</a:t>
            </a:r>
            <a:endParaRPr lang="en-US"/>
          </a:p>
          <a:p>
            <a:pPr>
              <a:buChar char="•"/>
            </a:pPr>
            <a:r>
              <a:rPr lang="en-US" sz="1600">
                <a:ea typeface="+mn-lt"/>
                <a:cs typeface="+mn-lt"/>
              </a:rPr>
              <a:t>    Perform eigen decomposition on the covariance matrix</a:t>
            </a:r>
            <a:endParaRPr lang="en-US"/>
          </a:p>
          <a:p>
            <a:pPr>
              <a:buChar char="•"/>
            </a:pPr>
            <a:r>
              <a:rPr lang="en-US" sz="1600">
                <a:ea typeface="+mn-lt"/>
                <a:cs typeface="+mn-lt"/>
              </a:rPr>
              <a:t>    Select the principal components, which represent directions of maximum variance</a:t>
            </a:r>
            <a:endParaRPr lang="en-US"/>
          </a:p>
          <a:p>
            <a:pPr>
              <a:buChar char="•"/>
            </a:pPr>
            <a:r>
              <a:rPr lang="en-US" sz="1600">
                <a:ea typeface="+mn-lt"/>
                <a:cs typeface="+mn-lt"/>
              </a:rPr>
              <a:t>    Project the images onto these new directions, reducing dimensionality</a:t>
            </a:r>
            <a:endParaRPr lang="en-US"/>
          </a:p>
          <a:p>
            <a:pPr>
              <a:buChar char="•"/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2600B4-5BE8-447C-8531-6CD75CB4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8F823A-E7BB-4668-930B-C119B7771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178143" y="0"/>
            <a:ext cx="2013857" cy="14151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73C4F3-0B20-4720-9910-82CE4DCE4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52114" y="0"/>
            <a:ext cx="3439886" cy="5769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871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1958D-DFE3-8EEB-95B7-3C098E358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31D5E59-43BA-4407-50D8-15AA7F48A1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F64648-708C-0C0D-463D-94A7B58C544E}"/>
              </a:ext>
            </a:extLst>
          </p:cNvPr>
          <p:cNvSpPr txBox="1"/>
          <p:nvPr/>
        </p:nvSpPr>
        <p:spPr>
          <a:xfrm>
            <a:off x="2000912" y="1802152"/>
            <a:ext cx="4888977" cy="45868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1600">
                <a:solidFill>
                  <a:srgbClr val="404040"/>
                </a:solidFill>
                <a:ea typeface="+mn-lt"/>
                <a:cs typeface="+mn-lt"/>
              </a:rPr>
              <a:t>Dataset split across processes, each loads its image batch into memory.</a:t>
            </a:r>
            <a:endParaRPr lang="en-US" sz="1600">
              <a:ea typeface="+mn-lt"/>
              <a:cs typeface="+mn-lt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1600" b="1">
                <a:solidFill>
                  <a:srgbClr val="404040"/>
                </a:solidFill>
                <a:ea typeface="+mn-lt"/>
                <a:cs typeface="+mn-lt"/>
              </a:rPr>
              <a:t>Mean computation:</a:t>
            </a:r>
            <a:endParaRPr lang="en-US" sz="160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r>
              <a:rPr lang="en-US" sz="1600">
                <a:solidFill>
                  <a:srgbClr val="404040"/>
                </a:solidFill>
                <a:ea typeface="+mn-lt"/>
                <a:cs typeface="+mn-lt"/>
              </a:rPr>
              <a:t>Each process computes local mean sum.</a:t>
            </a:r>
            <a:endParaRPr lang="en-US" sz="160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r>
              <a:rPr lang="en-US" sz="1600">
                <a:solidFill>
                  <a:srgbClr val="404040"/>
                </a:solidFill>
                <a:latin typeface="Consolas"/>
                <a:ea typeface="+mn-lt"/>
                <a:cs typeface="+mn-lt"/>
              </a:rPr>
              <a:t>MPI_Allreduce</a:t>
            </a:r>
            <a:r>
              <a:rPr lang="en-US" sz="1600">
                <a:solidFill>
                  <a:srgbClr val="404040"/>
                </a:solidFill>
                <a:ea typeface="+mn-lt"/>
                <a:cs typeface="+mn-lt"/>
              </a:rPr>
              <a:t> with </a:t>
            </a:r>
            <a:r>
              <a:rPr lang="en-US" sz="1600">
                <a:solidFill>
                  <a:srgbClr val="404040"/>
                </a:solidFill>
                <a:latin typeface="Consolas"/>
                <a:ea typeface="+mn-lt"/>
                <a:cs typeface="+mn-lt"/>
              </a:rPr>
              <a:t>MPI_SUM</a:t>
            </a:r>
            <a:r>
              <a:rPr lang="en-US" sz="1600">
                <a:solidFill>
                  <a:srgbClr val="404040"/>
                </a:solidFill>
                <a:ea typeface="+mn-lt"/>
                <a:cs typeface="+mn-lt"/>
              </a:rPr>
              <a:t> to obtain global sum.</a:t>
            </a:r>
            <a:endParaRPr lang="en-US" sz="1600"/>
          </a:p>
          <a:p>
            <a:pPr marL="800100" lvl="1" indent="-34290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r>
              <a:rPr lang="en-US" sz="1600">
                <a:solidFill>
                  <a:srgbClr val="404040"/>
                </a:solidFill>
                <a:ea typeface="+mn-lt"/>
                <a:cs typeface="+mn-lt"/>
              </a:rPr>
              <a:t>Divide by total number of images to get global mean.</a:t>
            </a:r>
            <a:endParaRPr lang="en-US" sz="160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1600" b="1">
                <a:solidFill>
                  <a:srgbClr val="404040"/>
                </a:solidFill>
                <a:ea typeface="+mn-lt"/>
                <a:cs typeface="+mn-lt"/>
              </a:rPr>
              <a:t>Covariance computation:</a:t>
            </a:r>
            <a:endParaRPr lang="en-US" sz="1600"/>
          </a:p>
          <a:p>
            <a:pPr marL="742950" lvl="1" indent="-34290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r>
              <a:rPr lang="en-US" sz="1600">
                <a:solidFill>
                  <a:srgbClr val="404040"/>
                </a:solidFill>
                <a:ea typeface="+mn-lt"/>
                <a:cs typeface="+mn-lt"/>
              </a:rPr>
              <a:t>Each process builds a partial covariance matrix.</a:t>
            </a:r>
            <a:endParaRPr lang="en-US" sz="1600"/>
          </a:p>
          <a:p>
            <a:pPr marL="742950" lvl="1" indent="-34290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r>
              <a:rPr lang="en-US" sz="1600">
                <a:solidFill>
                  <a:srgbClr val="404040"/>
                </a:solidFill>
                <a:ea typeface="+mn-lt"/>
                <a:cs typeface="+mn-lt"/>
              </a:rPr>
              <a:t>Loop ordering optimized to reduce cache misses.</a:t>
            </a:r>
            <a:endParaRPr lang="en-US" sz="1600"/>
          </a:p>
          <a:p>
            <a:pPr marL="742950" lvl="1" indent="-34290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r>
              <a:rPr lang="en-US" sz="1600">
                <a:solidFill>
                  <a:srgbClr val="404040"/>
                </a:solidFill>
                <a:latin typeface="Consolas"/>
              </a:rPr>
              <a:t>MPI_Allreduce</a:t>
            </a:r>
            <a:r>
              <a:rPr lang="en-US" sz="1600">
                <a:solidFill>
                  <a:srgbClr val="404040"/>
                </a:solidFill>
                <a:ea typeface="+mn-lt"/>
                <a:cs typeface="+mn-lt"/>
              </a:rPr>
              <a:t> used again to combine partial results into the global covariance matrix.</a:t>
            </a:r>
            <a:endParaRPr lang="en-US" sz="1600">
              <a:solidFill>
                <a:srgbClr val="404040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sz="2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92FD09-E382-E20E-6505-825B1A6778D0}"/>
              </a:ext>
            </a:extLst>
          </p:cNvPr>
          <p:cNvSpPr txBox="1"/>
          <p:nvPr/>
        </p:nvSpPr>
        <p:spPr>
          <a:xfrm>
            <a:off x="1999025" y="983523"/>
            <a:ext cx="932483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cap="all">
                <a:solidFill>
                  <a:srgbClr val="404040"/>
                </a:solidFill>
                <a:latin typeface="Tenorite"/>
              </a:rPr>
              <a:t>PCA Parallelization strategy</a:t>
            </a:r>
            <a:endParaRPr lang="en-US" sz="3200"/>
          </a:p>
        </p:txBody>
      </p:sp>
      <p:pic>
        <p:nvPicPr>
          <p:cNvPr id="4" name="Picture 3" descr="A white paper with writing on it">
            <a:extLst>
              <a:ext uri="{FF2B5EF4-FFF2-40B4-BE49-F238E27FC236}">
                <a16:creationId xmlns:a16="http://schemas.microsoft.com/office/drawing/2014/main" id="{BFD61BBF-D147-42F0-3B50-32C11CDD0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192" y="1568901"/>
            <a:ext cx="3521038" cy="2201883"/>
          </a:xfrm>
          <a:prstGeom prst="rect">
            <a:avLst/>
          </a:prstGeom>
        </p:spPr>
      </p:pic>
      <p:pic>
        <p:nvPicPr>
          <p:cNvPr id="5" name="Picture 4" descr="A white board with writing on it&#10;&#10;AI-generated content may be incorrect.">
            <a:extLst>
              <a:ext uri="{FF2B5EF4-FFF2-40B4-BE49-F238E27FC236}">
                <a16:creationId xmlns:a16="http://schemas.microsoft.com/office/drawing/2014/main" id="{2E5BFA68-BE74-5FA5-1465-A9027373F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86" y="3864426"/>
            <a:ext cx="3520170" cy="252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925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4B7B5-FF1C-8ED6-B8F9-0D2520E46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8050BF-D2B4-FB85-B8A6-1E6D21D91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165" y="622185"/>
            <a:ext cx="10882828" cy="673732"/>
          </a:xfrm>
        </p:spPr>
        <p:txBody>
          <a:bodyPr lIns="0">
            <a:normAutofit/>
          </a:bodyPr>
          <a:lstStyle/>
          <a:p>
            <a:r>
              <a:rPr lang="en-US"/>
              <a:t>OBservations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22690E-CC94-D51E-128D-D6B5F6FB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75AE52-6F89-38B3-B396-7DE2E89AA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178143" y="0"/>
            <a:ext cx="2013857" cy="14151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5E200A0-00DA-1C51-F3C0-64728DEC55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52114" y="0"/>
            <a:ext cx="3439886" cy="5769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963857-6C61-39F7-7321-D56CA9BBBC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340" y="1297674"/>
            <a:ext cx="11677610" cy="543611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Multi-core speedup (500 images):</a:t>
            </a:r>
            <a:r>
              <a:rPr lang="en-US">
                <a:ea typeface="+mn-lt"/>
                <a:cs typeface="+mn-lt"/>
              </a:rPr>
              <a:t> single-core local covariance = </a:t>
            </a:r>
            <a:r>
              <a:rPr lang="en-US" b="1">
                <a:ea typeface="+mn-lt"/>
                <a:cs typeface="+mn-lt"/>
              </a:rPr>
              <a:t>25.299 s</a:t>
            </a:r>
            <a:r>
              <a:rPr lang="en-US">
                <a:ea typeface="+mn-lt"/>
                <a:cs typeface="+mn-lt"/>
              </a:rPr>
              <a:t> → 4 cores = </a:t>
            </a:r>
            <a:r>
              <a:rPr lang="en-US" b="1">
                <a:ea typeface="+mn-lt"/>
                <a:cs typeface="+mn-lt"/>
              </a:rPr>
              <a:t>6.412 s</a:t>
            </a:r>
            <a:r>
              <a:rPr lang="en-US">
                <a:ea typeface="+mn-lt"/>
                <a:cs typeface="+mn-lt"/>
              </a:rPr>
              <a:t> (≈</a:t>
            </a:r>
            <a:r>
              <a:rPr lang="en-US" b="1">
                <a:ea typeface="+mn-lt"/>
                <a:cs typeface="+mn-lt"/>
              </a:rPr>
              <a:t>3.95×</a:t>
            </a:r>
            <a:r>
              <a:rPr lang="en-US">
                <a:ea typeface="+mn-lt"/>
                <a:cs typeface="+mn-lt"/>
              </a:rPr>
              <a:t> faster) → 8 cores = </a:t>
            </a:r>
            <a:r>
              <a:rPr lang="en-US" b="1">
                <a:ea typeface="+mn-lt"/>
                <a:cs typeface="+mn-lt"/>
              </a:rPr>
              <a:t>5.934 s</a:t>
            </a:r>
            <a:r>
              <a:rPr lang="en-US">
                <a:ea typeface="+mn-lt"/>
                <a:cs typeface="+mn-lt"/>
              </a:rPr>
              <a:t> (≈</a:t>
            </a:r>
            <a:r>
              <a:rPr lang="en-US" b="1">
                <a:ea typeface="+mn-lt"/>
                <a:cs typeface="+mn-lt"/>
              </a:rPr>
              <a:t>4.26×</a:t>
            </a:r>
            <a:r>
              <a:rPr lang="en-US">
                <a:ea typeface="+mn-lt"/>
                <a:cs typeface="+mn-lt"/>
              </a:rPr>
              <a:t> faster vs single-core).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Multi-core speedup (4000 images):</a:t>
            </a:r>
            <a:r>
              <a:rPr lang="en-US">
                <a:ea typeface="+mn-lt"/>
                <a:cs typeface="+mn-lt"/>
              </a:rPr>
              <a:t> single-core local covariance = </a:t>
            </a:r>
            <a:r>
              <a:rPr lang="en-US" b="1">
                <a:ea typeface="+mn-lt"/>
                <a:cs typeface="+mn-lt"/>
              </a:rPr>
              <a:t>230.491 s</a:t>
            </a:r>
            <a:r>
              <a:rPr lang="en-US">
                <a:ea typeface="+mn-lt"/>
                <a:cs typeface="+mn-lt"/>
              </a:rPr>
              <a:t> → 4 cores (with MO) = </a:t>
            </a:r>
            <a:r>
              <a:rPr lang="en-US" b="1">
                <a:ea typeface="+mn-lt"/>
                <a:cs typeface="+mn-lt"/>
              </a:rPr>
              <a:t>52.531 s</a:t>
            </a:r>
            <a:r>
              <a:rPr lang="en-US">
                <a:ea typeface="+mn-lt"/>
                <a:cs typeface="+mn-lt"/>
              </a:rPr>
              <a:t> (≈</a:t>
            </a:r>
            <a:r>
              <a:rPr lang="en-US" b="1">
                <a:ea typeface="+mn-lt"/>
                <a:cs typeface="+mn-lt"/>
              </a:rPr>
              <a:t>4.39×</a:t>
            </a:r>
            <a:r>
              <a:rPr lang="en-US">
                <a:ea typeface="+mn-lt"/>
                <a:cs typeface="+mn-lt"/>
              </a:rPr>
              <a:t> faster) → 8 cores = </a:t>
            </a:r>
            <a:r>
              <a:rPr lang="en-US" b="1">
                <a:ea typeface="+mn-lt"/>
                <a:cs typeface="+mn-lt"/>
              </a:rPr>
              <a:t>34.663 s</a:t>
            </a:r>
            <a:r>
              <a:rPr lang="en-US">
                <a:ea typeface="+mn-lt"/>
                <a:cs typeface="+mn-lt"/>
              </a:rPr>
              <a:t> (≈</a:t>
            </a:r>
            <a:r>
              <a:rPr lang="en-US" b="1">
                <a:ea typeface="+mn-lt"/>
                <a:cs typeface="+mn-lt"/>
              </a:rPr>
              <a:t>6.65×</a:t>
            </a:r>
            <a:r>
              <a:rPr lang="en-US">
                <a:ea typeface="+mn-lt"/>
                <a:cs typeface="+mn-lt"/>
              </a:rPr>
              <a:t> faster vs single-core).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Matrix-</a:t>
            </a:r>
            <a:r>
              <a:rPr lang="en-US" b="1" err="1">
                <a:ea typeface="+mn-lt"/>
                <a:cs typeface="+mn-lt"/>
              </a:rPr>
              <a:t>mul</a:t>
            </a:r>
            <a:r>
              <a:rPr lang="en-US" b="1">
                <a:ea typeface="+mn-lt"/>
                <a:cs typeface="+mn-lt"/>
              </a:rPr>
              <a:t> optimization impact (4 cores, 4000 images):</a:t>
            </a:r>
            <a:r>
              <a:rPr lang="en-US">
                <a:ea typeface="+mn-lt"/>
                <a:cs typeface="+mn-lt"/>
              </a:rPr>
              <a:t> without matrix opt local </a:t>
            </a:r>
            <a:r>
              <a:rPr lang="en-US" err="1">
                <a:ea typeface="+mn-lt"/>
                <a:cs typeface="+mn-lt"/>
              </a:rPr>
              <a:t>cov</a:t>
            </a:r>
            <a:r>
              <a:rPr lang="en-US">
                <a:ea typeface="+mn-lt"/>
                <a:cs typeface="+mn-lt"/>
              </a:rPr>
              <a:t> = </a:t>
            </a:r>
            <a:r>
              <a:rPr lang="en-US" b="1">
                <a:ea typeface="+mn-lt"/>
                <a:cs typeface="+mn-lt"/>
              </a:rPr>
              <a:t>114.677 s</a:t>
            </a:r>
            <a:r>
              <a:rPr lang="en-US">
                <a:ea typeface="+mn-lt"/>
                <a:cs typeface="+mn-lt"/>
              </a:rPr>
              <a:t> vs with MO = </a:t>
            </a:r>
            <a:r>
              <a:rPr lang="en-US" b="1">
                <a:ea typeface="+mn-lt"/>
                <a:cs typeface="+mn-lt"/>
              </a:rPr>
              <a:t>52.531 s</a:t>
            </a:r>
            <a:r>
              <a:rPr lang="en-US">
                <a:ea typeface="+mn-lt"/>
                <a:cs typeface="+mn-lt"/>
              </a:rPr>
              <a:t> → </a:t>
            </a:r>
            <a:r>
              <a:rPr lang="en-US" b="1">
                <a:ea typeface="+mn-lt"/>
                <a:cs typeface="+mn-lt"/>
              </a:rPr>
              <a:t>~2.18×</a:t>
            </a:r>
            <a:r>
              <a:rPr lang="en-US">
                <a:ea typeface="+mn-lt"/>
                <a:cs typeface="+mn-lt"/>
              </a:rPr>
              <a:t> speedup (≈</a:t>
            </a:r>
            <a:r>
              <a:rPr lang="en-US" b="1">
                <a:ea typeface="+mn-lt"/>
                <a:cs typeface="+mn-lt"/>
              </a:rPr>
              <a:t>54%</a:t>
            </a:r>
            <a:r>
              <a:rPr lang="en-US">
                <a:ea typeface="+mn-lt"/>
                <a:cs typeface="+mn-lt"/>
              </a:rPr>
              <a:t> reduction in local covariance time).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More cores reduce total runtime (4→8):</a:t>
            </a:r>
            <a:r>
              <a:rPr lang="en-US">
                <a:ea typeface="+mn-lt"/>
                <a:cs typeface="+mn-lt"/>
              </a:rPr>
              <a:t> 500 images total: </a:t>
            </a:r>
            <a:r>
              <a:rPr lang="en-US" b="1">
                <a:ea typeface="+mn-lt"/>
                <a:cs typeface="+mn-lt"/>
              </a:rPr>
              <a:t>9.917 s</a:t>
            </a:r>
            <a:r>
              <a:rPr lang="en-US">
                <a:ea typeface="+mn-lt"/>
                <a:cs typeface="+mn-lt"/>
              </a:rPr>
              <a:t> → </a:t>
            </a:r>
            <a:r>
              <a:rPr lang="en-US" b="1">
                <a:ea typeface="+mn-lt"/>
                <a:cs typeface="+mn-lt"/>
              </a:rPr>
              <a:t>6.699 s</a:t>
            </a:r>
            <a:r>
              <a:rPr lang="en-US">
                <a:ea typeface="+mn-lt"/>
                <a:cs typeface="+mn-lt"/>
              </a:rPr>
              <a:t> (≈</a:t>
            </a:r>
            <a:r>
              <a:rPr lang="en-US" b="1">
                <a:ea typeface="+mn-lt"/>
                <a:cs typeface="+mn-lt"/>
              </a:rPr>
              <a:t>32.4%</a:t>
            </a:r>
            <a:r>
              <a:rPr lang="en-US">
                <a:ea typeface="+mn-lt"/>
                <a:cs typeface="+mn-lt"/>
              </a:rPr>
              <a:t> reduction, </a:t>
            </a:r>
            <a:r>
              <a:rPr lang="en-US" b="1">
                <a:ea typeface="+mn-lt"/>
                <a:cs typeface="+mn-lt"/>
              </a:rPr>
              <a:t>1.48×</a:t>
            </a:r>
            <a:r>
              <a:rPr lang="en-US">
                <a:ea typeface="+mn-lt"/>
                <a:cs typeface="+mn-lt"/>
              </a:rPr>
              <a:t> speedup); 4000 images total: </a:t>
            </a:r>
            <a:r>
              <a:rPr lang="en-US" b="1">
                <a:ea typeface="+mn-lt"/>
                <a:cs typeface="+mn-lt"/>
              </a:rPr>
              <a:t>76.407 s</a:t>
            </a:r>
            <a:r>
              <a:rPr lang="en-US">
                <a:ea typeface="+mn-lt"/>
                <a:cs typeface="+mn-lt"/>
              </a:rPr>
              <a:t> → </a:t>
            </a:r>
            <a:r>
              <a:rPr lang="en-US" b="1">
                <a:ea typeface="+mn-lt"/>
                <a:cs typeface="+mn-lt"/>
              </a:rPr>
              <a:t>49.317 s</a:t>
            </a:r>
            <a:r>
              <a:rPr lang="en-US">
                <a:ea typeface="+mn-lt"/>
                <a:cs typeface="+mn-lt"/>
              </a:rPr>
              <a:t> (≈</a:t>
            </a:r>
            <a:r>
              <a:rPr lang="en-US" b="1">
                <a:ea typeface="+mn-lt"/>
                <a:cs typeface="+mn-lt"/>
              </a:rPr>
              <a:t>35.5%</a:t>
            </a:r>
            <a:r>
              <a:rPr lang="en-US">
                <a:ea typeface="+mn-lt"/>
                <a:cs typeface="+mn-lt"/>
              </a:rPr>
              <a:t> reduction, </a:t>
            </a:r>
            <a:r>
              <a:rPr lang="en-US" b="1">
                <a:ea typeface="+mn-lt"/>
                <a:cs typeface="+mn-lt"/>
              </a:rPr>
              <a:t>1.55×</a:t>
            </a:r>
            <a:r>
              <a:rPr lang="en-US">
                <a:ea typeface="+mn-lt"/>
                <a:cs typeface="+mn-lt"/>
              </a:rPr>
              <a:t> speedup).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Low </a:t>
            </a:r>
            <a:r>
              <a:rPr lang="en-US" b="1" err="1">
                <a:ea typeface="+mn-lt"/>
                <a:cs typeface="+mn-lt"/>
              </a:rPr>
              <a:t>computation→communication</a:t>
            </a:r>
            <a:r>
              <a:rPr lang="en-US" b="1">
                <a:ea typeface="+mn-lt"/>
                <a:cs typeface="+mn-lt"/>
              </a:rPr>
              <a:t> overhead (examples):</a:t>
            </a:r>
            <a:r>
              <a:rPr lang="en-US">
                <a:ea typeface="+mn-lt"/>
                <a:cs typeface="+mn-lt"/>
              </a:rPr>
              <a:t> 8-core 4000: local </a:t>
            </a:r>
            <a:r>
              <a:rPr lang="en-US" err="1">
                <a:ea typeface="+mn-lt"/>
                <a:cs typeface="+mn-lt"/>
              </a:rPr>
              <a:t>cov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34.663 s</a:t>
            </a:r>
            <a:r>
              <a:rPr lang="en-US">
                <a:ea typeface="+mn-lt"/>
                <a:cs typeface="+mn-lt"/>
              </a:rPr>
              <a:t> vs global </a:t>
            </a:r>
            <a:r>
              <a:rPr lang="en-US" err="1">
                <a:ea typeface="+mn-lt"/>
                <a:cs typeface="+mn-lt"/>
              </a:rPr>
              <a:t>cov</a:t>
            </a:r>
            <a:r>
              <a:rPr lang="en-US">
                <a:ea typeface="+mn-lt"/>
                <a:cs typeface="+mn-lt"/>
              </a:rPr>
              <a:t> reduce </a:t>
            </a:r>
            <a:r>
              <a:rPr lang="en-US" b="1">
                <a:ea typeface="+mn-lt"/>
                <a:cs typeface="+mn-lt"/>
              </a:rPr>
              <a:t>0.180 s</a:t>
            </a:r>
            <a:r>
              <a:rPr lang="en-US">
                <a:ea typeface="+mn-lt"/>
                <a:cs typeface="+mn-lt"/>
              </a:rPr>
              <a:t> → global is </a:t>
            </a:r>
            <a:r>
              <a:rPr lang="en-US" b="1">
                <a:ea typeface="+mn-lt"/>
                <a:cs typeface="+mn-lt"/>
              </a:rPr>
              <a:t>0.52%</a:t>
            </a:r>
            <a:r>
              <a:rPr lang="en-US">
                <a:ea typeface="+mn-lt"/>
                <a:cs typeface="+mn-lt"/>
              </a:rPr>
              <a:t> of local (≈</a:t>
            </a:r>
            <a:r>
              <a:rPr lang="en-US" b="1">
                <a:ea typeface="+mn-lt"/>
                <a:cs typeface="+mn-lt"/>
              </a:rPr>
              <a:t>192×</a:t>
            </a:r>
            <a:r>
              <a:rPr lang="en-US">
                <a:ea typeface="+mn-lt"/>
                <a:cs typeface="+mn-lt"/>
              </a:rPr>
              <a:t> more local work); 4-core 500: local </a:t>
            </a:r>
            <a:r>
              <a:rPr lang="en-US" err="1">
                <a:ea typeface="+mn-lt"/>
                <a:cs typeface="+mn-lt"/>
              </a:rPr>
              <a:t>cov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6.412 s</a:t>
            </a:r>
            <a:r>
              <a:rPr lang="en-US">
                <a:ea typeface="+mn-lt"/>
                <a:cs typeface="+mn-lt"/>
              </a:rPr>
              <a:t> vs global </a:t>
            </a:r>
            <a:r>
              <a:rPr lang="en-US" err="1">
                <a:ea typeface="+mn-lt"/>
                <a:cs typeface="+mn-lt"/>
              </a:rPr>
              <a:t>cov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0.104 s</a:t>
            </a:r>
            <a:r>
              <a:rPr lang="en-US">
                <a:ea typeface="+mn-lt"/>
                <a:cs typeface="+mn-lt"/>
              </a:rPr>
              <a:t> → global is </a:t>
            </a:r>
            <a:r>
              <a:rPr lang="en-US" b="1">
                <a:ea typeface="+mn-lt"/>
                <a:cs typeface="+mn-lt"/>
              </a:rPr>
              <a:t>1.62%</a:t>
            </a:r>
            <a:r>
              <a:rPr lang="en-US">
                <a:ea typeface="+mn-lt"/>
                <a:cs typeface="+mn-lt"/>
              </a:rPr>
              <a:t> of local (≈</a:t>
            </a:r>
            <a:r>
              <a:rPr lang="en-US" b="1">
                <a:ea typeface="+mn-lt"/>
                <a:cs typeface="+mn-lt"/>
              </a:rPr>
              <a:t>62×</a:t>
            </a:r>
            <a:r>
              <a:rPr lang="en-US">
                <a:ea typeface="+mn-lt"/>
                <a:cs typeface="+mn-lt"/>
              </a:rPr>
              <a:t>).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Image count vs runtime (8 cores):</a:t>
            </a:r>
            <a:r>
              <a:rPr lang="en-US">
                <a:ea typeface="+mn-lt"/>
                <a:cs typeface="+mn-lt"/>
              </a:rPr>
              <a:t> local covariance scales roughly with N — 500 → 4000 images: </a:t>
            </a:r>
            <a:r>
              <a:rPr lang="en-US" b="1">
                <a:ea typeface="+mn-lt"/>
                <a:cs typeface="+mn-lt"/>
              </a:rPr>
              <a:t>5.93 s</a:t>
            </a:r>
            <a:r>
              <a:rPr lang="en-US">
                <a:ea typeface="+mn-lt"/>
                <a:cs typeface="+mn-lt"/>
              </a:rPr>
              <a:t> → </a:t>
            </a:r>
            <a:r>
              <a:rPr lang="en-US" b="1">
                <a:ea typeface="+mn-lt"/>
                <a:cs typeface="+mn-lt"/>
              </a:rPr>
              <a:t>34.66 s</a:t>
            </a:r>
            <a:r>
              <a:rPr lang="en-US">
                <a:ea typeface="+mn-lt"/>
                <a:cs typeface="+mn-lt"/>
              </a:rPr>
              <a:t> (≈</a:t>
            </a:r>
            <a:r>
              <a:rPr lang="en-US" b="1">
                <a:ea typeface="+mn-lt"/>
                <a:cs typeface="+mn-lt"/>
              </a:rPr>
              <a:t>5.84×</a:t>
            </a:r>
            <a:r>
              <a:rPr lang="en-US">
                <a:ea typeface="+mn-lt"/>
                <a:cs typeface="+mn-lt"/>
              </a:rPr>
              <a:t> increase for 8× images); 4000 → 13232: </a:t>
            </a:r>
            <a:r>
              <a:rPr lang="en-US" b="1">
                <a:ea typeface="+mn-lt"/>
                <a:cs typeface="+mn-lt"/>
              </a:rPr>
              <a:t>34.66 s</a:t>
            </a:r>
            <a:r>
              <a:rPr lang="en-US">
                <a:ea typeface="+mn-lt"/>
                <a:cs typeface="+mn-lt"/>
              </a:rPr>
              <a:t> → </a:t>
            </a:r>
            <a:r>
              <a:rPr lang="en-US" b="1">
                <a:ea typeface="+mn-lt"/>
                <a:cs typeface="+mn-lt"/>
              </a:rPr>
              <a:t>157.24 s</a:t>
            </a:r>
            <a:r>
              <a:rPr lang="en-US">
                <a:ea typeface="+mn-lt"/>
                <a:cs typeface="+mn-lt"/>
              </a:rPr>
              <a:t> (≈</a:t>
            </a:r>
            <a:r>
              <a:rPr lang="en-US" b="1">
                <a:ea typeface="+mn-lt"/>
                <a:cs typeface="+mn-lt"/>
              </a:rPr>
              <a:t>4.54×</a:t>
            </a:r>
            <a:r>
              <a:rPr lang="en-US">
                <a:ea typeface="+mn-lt"/>
                <a:cs typeface="+mn-lt"/>
              </a:rPr>
              <a:t> increase for 3.308× images), indicating near-linear scaling with N and extra overheads at large sizes.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Global mean reduction negligible:</a:t>
            </a:r>
            <a:r>
              <a:rPr lang="en-US">
                <a:ea typeface="+mn-lt"/>
                <a:cs typeface="+mn-lt"/>
              </a:rPr>
              <a:t> example single-core 500: local mean </a:t>
            </a:r>
            <a:r>
              <a:rPr lang="en-US" b="1">
                <a:ea typeface="+mn-lt"/>
                <a:cs typeface="+mn-lt"/>
              </a:rPr>
              <a:t>0.00410 s</a:t>
            </a:r>
            <a:r>
              <a:rPr lang="en-US">
                <a:ea typeface="+mn-lt"/>
                <a:cs typeface="+mn-lt"/>
              </a:rPr>
              <a:t> vs global mean </a:t>
            </a:r>
            <a:r>
              <a:rPr lang="en-US" b="1">
                <a:ea typeface="+mn-lt"/>
                <a:cs typeface="+mn-lt"/>
              </a:rPr>
              <a:t>0.000004 s</a:t>
            </a:r>
            <a:r>
              <a:rPr lang="en-US">
                <a:ea typeface="+mn-lt"/>
                <a:cs typeface="+mn-lt"/>
              </a:rPr>
              <a:t> (global &lt;&lt; local); 8-core 4000: local mean </a:t>
            </a:r>
            <a:r>
              <a:rPr lang="en-US" b="1">
                <a:ea typeface="+mn-lt"/>
                <a:cs typeface="+mn-lt"/>
              </a:rPr>
              <a:t>0.00861 s</a:t>
            </a:r>
            <a:r>
              <a:rPr lang="en-US">
                <a:ea typeface="+mn-lt"/>
                <a:cs typeface="+mn-lt"/>
              </a:rPr>
              <a:t> vs global mean </a:t>
            </a:r>
            <a:r>
              <a:rPr lang="en-US" b="1">
                <a:ea typeface="+mn-lt"/>
                <a:cs typeface="+mn-lt"/>
              </a:rPr>
              <a:t>0.00018 s</a:t>
            </a:r>
            <a:r>
              <a:rPr lang="en-US">
                <a:ea typeface="+mn-lt"/>
                <a:cs typeface="+mn-lt"/>
              </a:rPr>
              <a:t> (global ≈</a:t>
            </a:r>
            <a:r>
              <a:rPr lang="en-US" b="1">
                <a:ea typeface="+mn-lt"/>
                <a:cs typeface="+mn-lt"/>
              </a:rPr>
              <a:t>2%</a:t>
            </a:r>
            <a:r>
              <a:rPr lang="en-US">
                <a:ea typeface="+mn-lt"/>
                <a:cs typeface="+mn-lt"/>
              </a:rPr>
              <a:t> of local).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I/O &amp; other stage improvements with parallelism:</a:t>
            </a:r>
            <a:r>
              <a:rPr lang="en-US">
                <a:ea typeface="+mn-lt"/>
                <a:cs typeface="+mn-lt"/>
              </a:rPr>
              <a:t> load time drops with cores (single-core 500 </a:t>
            </a:r>
            <a:r>
              <a:rPr lang="en-US" b="1">
                <a:ea typeface="+mn-lt"/>
                <a:cs typeface="+mn-lt"/>
              </a:rPr>
              <a:t>0.0528 s</a:t>
            </a:r>
            <a:r>
              <a:rPr lang="en-US">
                <a:ea typeface="+mn-lt"/>
                <a:cs typeface="+mn-lt"/>
              </a:rPr>
              <a:t> → 4-core </a:t>
            </a:r>
            <a:r>
              <a:rPr lang="en-US" b="1">
                <a:ea typeface="+mn-lt"/>
                <a:cs typeface="+mn-lt"/>
              </a:rPr>
              <a:t>0.0215 s</a:t>
            </a:r>
            <a:r>
              <a:rPr lang="en-US">
                <a:ea typeface="+mn-lt"/>
                <a:cs typeface="+mn-lt"/>
              </a:rPr>
              <a:t> → 8-core </a:t>
            </a:r>
            <a:r>
              <a:rPr lang="en-US" b="1">
                <a:ea typeface="+mn-lt"/>
                <a:cs typeface="+mn-lt"/>
              </a:rPr>
              <a:t>0.0128 s</a:t>
            </a:r>
            <a:r>
              <a:rPr lang="en-US">
                <a:ea typeface="+mn-lt"/>
                <a:cs typeface="+mn-lt"/>
              </a:rPr>
              <a:t>), showing multi-core I/O/overlap benefits as well.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30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2A8F8-61F5-F755-F046-C4D3433BB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4E36EE-9024-F5D5-3775-C4DABEAF5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165" y="622185"/>
            <a:ext cx="10882828" cy="673732"/>
          </a:xfrm>
        </p:spPr>
        <p:txBody>
          <a:bodyPr lIns="0">
            <a:normAutofit/>
          </a:bodyPr>
          <a:lstStyle/>
          <a:p>
            <a:r>
              <a:rPr lang="en-US"/>
              <a:t>OBservations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485FA0-C67F-565F-A695-5D20F223FD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A0EEC1-2E58-7ED7-9CE9-1F38DA24A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178143" y="0"/>
            <a:ext cx="2013857" cy="14151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B68119-890C-21CD-3E2F-F84971076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52114" y="0"/>
            <a:ext cx="3439886" cy="5769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E4BBB0D-5BF5-F6D1-7A8D-713B970447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29964"/>
              </p:ext>
            </p:extLst>
          </p:nvPr>
        </p:nvGraphicFramePr>
        <p:xfrm>
          <a:off x="0" y="1291360"/>
          <a:ext cx="12192000" cy="5303520"/>
        </p:xfrm>
        <a:graphic>
          <a:graphicData uri="http://schemas.openxmlformats.org/drawingml/2006/table">
            <a:tbl>
              <a:tblPr bandRow="1">
                <a:tableStyleId>{7E9639D4-E3E2-4D34-9284-5A2195B3D0D7}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8429490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1631195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04420642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2640599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Scenario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Time (sec)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Observation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130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Single Core — 500 images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Local Covariance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25.299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Baseline for comparison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825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4 Cores — 500 images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Local Covariance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6.412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≈3.95× faster</a:t>
                      </a:r>
                      <a:r>
                        <a:rPr lang="en-US"/>
                        <a:t> than single 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439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8 Cores — 500 images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Local Covariance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5.934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≈4.26× faster</a:t>
                      </a:r>
                      <a:r>
                        <a:rPr lang="en-US"/>
                        <a:t> than single 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084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Single Core — 4000 images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Local Covariance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230.491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Shows scaling cost with large 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363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4 Cores — 4000 (with MO)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Local Covariance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52.531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~4.39× faster</a:t>
                      </a:r>
                      <a:r>
                        <a:rPr lang="en-US"/>
                        <a:t> vs single 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945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4 Cores — 4000 (without MO)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Local Covariance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114.677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 gives </a:t>
                      </a:r>
                      <a:r>
                        <a:rPr lang="en-US" b="1"/>
                        <a:t>~2.18×</a:t>
                      </a:r>
                      <a:r>
                        <a:rPr lang="en-US"/>
                        <a:t> speedup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1012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8 Cores — 4000 images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Local Covariance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34.663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~6.65×</a:t>
                      </a:r>
                      <a:r>
                        <a:rPr lang="en-US"/>
                        <a:t> faster than single 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939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8 Cores — 13232 images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Local Covariance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157.239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Demonstrates near-linear scaling with data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312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8 Cores — 4000 images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Global Covariance Reduce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0.180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Only </a:t>
                      </a:r>
                      <a:r>
                        <a:rPr lang="en-US" b="1"/>
                        <a:t>0.52%</a:t>
                      </a:r>
                      <a:r>
                        <a:rPr lang="en-US"/>
                        <a:t> of local compute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183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206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F956C-2218-8006-59D8-8763417CC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045936E-015B-6A7D-C8BB-842DE71741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A3033C-B926-81C4-3A80-2F62FC604006}"/>
              </a:ext>
            </a:extLst>
          </p:cNvPr>
          <p:cNvSpPr txBox="1"/>
          <p:nvPr/>
        </p:nvSpPr>
        <p:spPr>
          <a:xfrm>
            <a:off x="250534" y="231033"/>
            <a:ext cx="11532028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cap="all">
                <a:solidFill>
                  <a:srgbClr val="404040"/>
                </a:solidFill>
                <a:latin typeface="Tenorite"/>
              </a:rPr>
              <a:t>What we have done so far</a:t>
            </a:r>
            <a:endParaRPr lang="en-US" sz="3200" cap="all">
              <a:solidFill>
                <a:srgbClr val="000000"/>
              </a:solidFill>
              <a:latin typeface="Tenorite"/>
            </a:endParaRPr>
          </a:p>
          <a:p>
            <a:endParaRPr lang="en-US" sz="3200" b="0" i="0" cap="all">
              <a:solidFill>
                <a:srgbClr val="404040"/>
              </a:solidFill>
              <a:latin typeface="Tenorit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E28494-8BA8-7F4D-DFA7-B427C71D2A09}"/>
              </a:ext>
            </a:extLst>
          </p:cNvPr>
          <p:cNvSpPr txBox="1"/>
          <p:nvPr/>
        </p:nvSpPr>
        <p:spPr>
          <a:xfrm>
            <a:off x="514597" y="1019298"/>
            <a:ext cx="10974779" cy="54527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2000">
                <a:solidFill>
                  <a:srgbClr val="404040"/>
                </a:solidFill>
              </a:rPr>
              <a:t>Set up distributed mean calculation</a:t>
            </a:r>
            <a:br>
              <a:rPr lang="en-US" sz="2000">
                <a:solidFill>
                  <a:srgbClr val="404040"/>
                </a:solidFill>
              </a:rPr>
            </a:br>
            <a:r>
              <a:rPr lang="en-US" sz="2000">
                <a:solidFill>
                  <a:srgbClr val="404040"/>
                </a:solidFill>
              </a:rPr>
              <a:t> Implemented the local mean computation on each process and used </a:t>
            </a:r>
            <a:r>
              <a:rPr lang="en-US" sz="2000" b="1" err="1">
                <a:solidFill>
                  <a:srgbClr val="404040"/>
                </a:solidFill>
              </a:rPr>
              <a:t>MPI_Allreduce</a:t>
            </a:r>
            <a:r>
              <a:rPr lang="en-US" sz="2000">
                <a:solidFill>
                  <a:srgbClr val="404040"/>
                </a:solidFill>
              </a:rPr>
              <a:t> to combine everything into a global mean.</a:t>
            </a:r>
            <a:endParaRPr lang="en-US" sz="2000"/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2000">
                <a:solidFill>
                  <a:srgbClr val="404040"/>
                </a:solidFill>
              </a:rPr>
              <a:t>Parallel covariance computation</a:t>
            </a:r>
            <a:br>
              <a:rPr lang="en-US" sz="2000">
                <a:solidFill>
                  <a:srgbClr val="404040"/>
                </a:solidFill>
              </a:rPr>
            </a:br>
            <a:r>
              <a:rPr lang="en-US" sz="2000">
                <a:solidFill>
                  <a:srgbClr val="404040"/>
                </a:solidFill>
              </a:rPr>
              <a:t> Each process computes its part of the covariance matrix, and we merge the results using another </a:t>
            </a:r>
            <a:r>
              <a:rPr lang="en-US" sz="2000" b="1" err="1">
                <a:solidFill>
                  <a:srgbClr val="404040"/>
                </a:solidFill>
              </a:rPr>
              <a:t>MPI_Allreduce</a:t>
            </a:r>
            <a:r>
              <a:rPr lang="en-US" sz="2000">
                <a:solidFill>
                  <a:srgbClr val="404040"/>
                </a:solidFill>
              </a:rPr>
              <a:t>.</a:t>
            </a:r>
            <a:endParaRPr lang="en-US" sz="2000"/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2000">
                <a:solidFill>
                  <a:srgbClr val="404040"/>
                </a:solidFill>
              </a:rPr>
              <a:t>Implemented key performance metrics</a:t>
            </a:r>
            <a:br>
              <a:rPr lang="en-US" sz="2000">
                <a:solidFill>
                  <a:srgbClr val="404040"/>
                </a:solidFill>
              </a:rPr>
            </a:br>
            <a:r>
              <a:rPr lang="en-US" sz="2000">
                <a:solidFill>
                  <a:srgbClr val="404040"/>
                </a:solidFill>
              </a:rPr>
              <a:t> Added timing and measurement utilities to track the time taken for loading, mean calculation, covariance computation, and eigenvector processing.</a:t>
            </a:r>
            <a:endParaRPr lang="en-US" sz="2000"/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US" sz="1600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142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9AB5C-401C-BA1B-9559-8175218DE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3315222-FE4D-E8A0-5C7A-C062049A7E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CCF059-E9E1-0055-B025-33D0A3D633BA}"/>
              </a:ext>
            </a:extLst>
          </p:cNvPr>
          <p:cNvSpPr txBox="1"/>
          <p:nvPr/>
        </p:nvSpPr>
        <p:spPr>
          <a:xfrm>
            <a:off x="250534" y="231033"/>
            <a:ext cx="11532028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cap="all">
                <a:solidFill>
                  <a:srgbClr val="404040"/>
                </a:solidFill>
                <a:latin typeface="Tenorite"/>
              </a:rPr>
              <a:t>What WE Plan To Do AHEAD?</a:t>
            </a:r>
            <a:endParaRPr lang="en-US" sz="3200" cap="all">
              <a:solidFill>
                <a:srgbClr val="000000"/>
              </a:solidFill>
              <a:latin typeface="Tenorite"/>
            </a:endParaRPr>
          </a:p>
          <a:p>
            <a:endParaRPr lang="en-US" sz="3200" b="0" i="0" cap="all">
              <a:solidFill>
                <a:srgbClr val="404040"/>
              </a:solidFill>
              <a:latin typeface="Tenorit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E1CD8B-8C39-223C-0419-8C54F3F20CB7}"/>
              </a:ext>
            </a:extLst>
          </p:cNvPr>
          <p:cNvSpPr txBox="1"/>
          <p:nvPr/>
        </p:nvSpPr>
        <p:spPr>
          <a:xfrm>
            <a:off x="514597" y="1019298"/>
            <a:ext cx="10974779" cy="5791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/>
              <a:t>Parallelize Eigenvector Computation</a:t>
            </a:r>
            <a:endParaRPr lang="en-US"/>
          </a:p>
          <a:p>
            <a:r>
              <a:rPr lang="en-US" sz="2000">
                <a:solidFill>
                  <a:srgbClr val="404040"/>
                </a:solidFill>
              </a:rPr>
              <a:t>  - Explore</a:t>
            </a:r>
            <a:r>
              <a:rPr lang="en-US" sz="2000">
                <a:solidFill>
                  <a:srgbClr val="404040"/>
                </a:solidFill>
                <a:ea typeface="+mn-lt"/>
                <a:cs typeface="+mn-lt"/>
              </a:rPr>
              <a:t> distributed eigensolvers</a:t>
            </a:r>
          </a:p>
          <a:p>
            <a:endParaRPr lang="en-US" sz="2000">
              <a:solidFill>
                <a:srgbClr val="404040"/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Simulate</a:t>
            </a:r>
            <a:r>
              <a:rPr lang="en-US" sz="2000"/>
              <a:t> a Multi-Node Cluster</a:t>
            </a:r>
          </a:p>
          <a:p>
            <a:r>
              <a:rPr lang="en-US" sz="2000"/>
              <a:t>  - </a:t>
            </a:r>
            <a:r>
              <a:rPr lang="en-US" sz="2000">
                <a:ea typeface="+mn-lt"/>
                <a:cs typeface="+mn-lt"/>
              </a:rPr>
              <a:t>Connect laptops over LAN/WiFi</a:t>
            </a:r>
            <a:endParaRPr lang="en-US" sz="2000">
              <a:solidFill>
                <a:srgbClr val="000000"/>
              </a:solidFill>
            </a:endParaRPr>
          </a:p>
          <a:p>
            <a:r>
              <a:rPr lang="en-US" sz="2000">
                <a:solidFill>
                  <a:srgbClr val="000000"/>
                </a:solidFill>
              </a:rPr>
              <a:t>  - 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Measure real network communication performance</a:t>
            </a:r>
          </a:p>
          <a:p>
            <a:endParaRPr lang="en-US" sz="200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Optimize Image Writing</a:t>
            </a:r>
          </a:p>
          <a:p>
            <a:r>
              <a:rPr lang="en-US" sz="2000"/>
              <a:t>  - </a:t>
            </a:r>
            <a:r>
              <a:rPr lang="en-US" sz="2000">
                <a:ea typeface="+mn-lt"/>
                <a:cs typeface="+mn-lt"/>
              </a:rPr>
              <a:t>Use MPI-IO / collective I/O</a:t>
            </a:r>
          </a:p>
          <a:p>
            <a:r>
              <a:rPr lang="en-US" sz="2000"/>
              <a:t>  - </a:t>
            </a:r>
            <a:r>
              <a:rPr lang="en-US" sz="2000">
                <a:ea typeface="+mn-lt"/>
                <a:cs typeface="+mn-lt"/>
              </a:rPr>
              <a:t>Reduce file system bottlenecks</a:t>
            </a:r>
          </a:p>
          <a:p>
            <a:endParaRPr lang="en-US" sz="2000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Expand Datasets &amp; Metrics</a:t>
            </a:r>
            <a:endParaRPr lang="en-US" sz="2000">
              <a:solidFill>
                <a:srgbClr val="000000"/>
              </a:solidFill>
            </a:endParaRPr>
          </a:p>
          <a:p>
            <a:r>
              <a:rPr lang="en-US" sz="2000">
                <a:solidFill>
                  <a:srgbClr val="000000"/>
                </a:solidFill>
              </a:rPr>
              <a:t>  - 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Test larger image sets</a:t>
            </a:r>
          </a:p>
          <a:p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  - Generate detailed speedup &amp; scaling graphs</a:t>
            </a:r>
          </a:p>
          <a:p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 </a:t>
            </a:r>
          </a:p>
          <a:p>
            <a:r>
              <a:rPr lang="en-US" sz="2000">
                <a:solidFill>
                  <a:srgbClr val="000000"/>
                </a:solidFill>
              </a:rPr>
              <a:t>  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US" sz="1600">
              <a:solidFill>
                <a:srgbClr val="000000"/>
              </a:solidFill>
            </a:endParaRPr>
          </a:p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393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BD2D-0E61-8638-943E-CAA8A8C20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1B4ED-4EF4-A892-3367-E103E62CB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531" y="234952"/>
            <a:ext cx="8421688" cy="1325563"/>
          </a:xfrm>
        </p:spPr>
        <p:txBody>
          <a:bodyPr>
            <a:normAutofit/>
          </a:bodyPr>
          <a:lstStyle/>
          <a:p>
            <a:r>
              <a:rPr lang="en-US" sz="6000"/>
              <a:t>Thank YOu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3F888A-5539-89F7-5142-FDB179D39A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</a:p>
        </p:txBody>
      </p:sp>
      <p:pic>
        <p:nvPicPr>
          <p:cNvPr id="76" name="Picture 75" descr="A blurry face of a person&#10;&#10;AI-generated content may be incorrect.">
            <a:extLst>
              <a:ext uri="{FF2B5EF4-FFF2-40B4-BE49-F238E27FC236}">
                <a16:creationId xmlns:a16="http://schemas.microsoft.com/office/drawing/2014/main" id="{CD365072-F296-F026-97BC-966B902B8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0" y="1162050"/>
            <a:ext cx="3324225" cy="3152775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D65B9EB7-CB5F-11A6-A24E-9E391BEF6875}"/>
              </a:ext>
            </a:extLst>
          </p:cNvPr>
          <p:cNvSpPr txBox="1"/>
          <p:nvPr/>
        </p:nvSpPr>
        <p:spPr>
          <a:xfrm>
            <a:off x="1991457" y="4446108"/>
            <a:ext cx="762619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( Our Mean calculated Image says thank you )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7FDF6E0-E497-69A6-2A3D-530FF26CA650}"/>
              </a:ext>
            </a:extLst>
          </p:cNvPr>
          <p:cNvGrpSpPr/>
          <p:nvPr/>
        </p:nvGrpSpPr>
        <p:grpSpPr>
          <a:xfrm>
            <a:off x="9229725" y="-3478"/>
            <a:ext cx="2733675" cy="2413303"/>
            <a:chOff x="47625" y="3320747"/>
            <a:chExt cx="2952750" cy="3451528"/>
          </a:xfrm>
        </p:grpSpPr>
        <p:pic>
          <p:nvPicPr>
            <p:cNvPr id="79" name="Picture 78" descr="A close up of a person&amp;#39;s face&#10;&#10;AI-generated content may be incorrect.">
              <a:extLst>
                <a:ext uri="{FF2B5EF4-FFF2-40B4-BE49-F238E27FC236}">
                  <a16:creationId xmlns:a16="http://schemas.microsoft.com/office/drawing/2014/main" id="{4248A46B-5CC3-1F3A-7AAB-EBBEDB3A76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6875" y="5553075"/>
              <a:ext cx="1219200" cy="1219200"/>
            </a:xfrm>
            <a:prstGeom prst="rect">
              <a:avLst/>
            </a:prstGeom>
          </p:spPr>
        </p:pic>
        <p:pic>
          <p:nvPicPr>
            <p:cNvPr id="80" name="Picture 79" descr="A close up of a person&amp;#39;s face&#10;&#10;AI-generated content may be incorrect.">
              <a:extLst>
                <a:ext uri="{FF2B5EF4-FFF2-40B4-BE49-F238E27FC236}">
                  <a16:creationId xmlns:a16="http://schemas.microsoft.com/office/drawing/2014/main" id="{49F6E264-BF90-E140-E1E9-AF9E31EB10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2400" y="5553075"/>
              <a:ext cx="1152525" cy="1200150"/>
            </a:xfrm>
            <a:prstGeom prst="rect">
              <a:avLst/>
            </a:prstGeom>
          </p:spPr>
        </p:pic>
        <p:pic>
          <p:nvPicPr>
            <p:cNvPr id="81" name="Picture 80" descr="A close up of a person&amp;#39;s face&#10;&#10;AI-generated content may be incorrect.">
              <a:extLst>
                <a:ext uri="{FF2B5EF4-FFF2-40B4-BE49-F238E27FC236}">
                  <a16:creationId xmlns:a16="http://schemas.microsoft.com/office/drawing/2014/main" id="{200D4647-A4D9-D072-FE94-9D383F16A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625" y="4029075"/>
              <a:ext cx="1362075" cy="1343025"/>
            </a:xfrm>
            <a:prstGeom prst="rect">
              <a:avLst/>
            </a:prstGeom>
          </p:spPr>
        </p:pic>
        <p:pic>
          <p:nvPicPr>
            <p:cNvPr id="82" name="Picture 81" descr="A close up of a person&amp;#39;s face&#10;&#10;AI-generated content may be incorrect.">
              <a:extLst>
                <a:ext uri="{FF2B5EF4-FFF2-40B4-BE49-F238E27FC236}">
                  <a16:creationId xmlns:a16="http://schemas.microsoft.com/office/drawing/2014/main" id="{A7A8A719-ABB1-D07E-FFAD-E660722661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28775" y="4029075"/>
              <a:ext cx="1371600" cy="1333500"/>
            </a:xfrm>
            <a:prstGeom prst="rect">
              <a:avLst/>
            </a:prstGeom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EDE8478-17B5-78D5-27F7-8339DBAC35D4}"/>
                </a:ext>
              </a:extLst>
            </p:cNvPr>
            <p:cNvSpPr txBox="1"/>
            <p:nvPr/>
          </p:nvSpPr>
          <p:spPr>
            <a:xfrm>
              <a:off x="152506" y="3320747"/>
              <a:ext cx="2496139" cy="65585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solidFill>
                    <a:schemeClr val="bg1"/>
                  </a:solidFill>
                </a:rPr>
                <a:t>Example images from dataset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570053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6E94D4DF-24E6-4758-8701-2C20AC2BF2DD}" vid="{D9C778EE-A573-4D68-89BA-A3DB5F810EA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1845F9-C5F4-4AA5-BA9E-EC2182E91488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6C8B084D-D430-4822-B3CB-DEADB2E7A5F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BFCE94-6EC9-4D8E-89B6-C22DE7AD70CB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Monoline</vt:lpstr>
      <vt:lpstr>PCA for Images Using Distributed Computing</vt:lpstr>
      <vt:lpstr>PowerPoint Presentation</vt:lpstr>
      <vt:lpstr>PowerPoint Presentation</vt:lpstr>
      <vt:lpstr>PCA –Principal component analysis  </vt:lpstr>
      <vt:lpstr>PowerPoint Presentation</vt:lpstr>
      <vt:lpstr>OBservations</vt:lpstr>
      <vt:lpstr>OBservations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2025-11-16T16:34:35Z</dcterms:created>
  <dcterms:modified xsi:type="dcterms:W3CDTF">2025-11-26T06:28:57Z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